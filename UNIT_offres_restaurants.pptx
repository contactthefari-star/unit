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31520"/>
            <a:ext cx="146304" cy="14630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731520"/>
            <a:ext cx="1371600" cy="1371600"/>
          </a:xfrm>
          <a:prstGeom prst="ellipse">
            <a:avLst/>
          </a:prstGeom>
          <a:noFill/>
          <a:ln w="15240">
            <a:solidFill>
              <a:srgbClr val="4A4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4572000"/>
            <a:ext cx="1737360" cy="1737360"/>
          </a:xfrm>
          <a:prstGeom prst="ellipse">
            <a:avLst/>
          </a:prstGeom>
          <a:noFill/>
          <a:ln w="15240">
            <a:solidFill>
              <a:srgbClr val="3E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7F1E6"/>
                </a:solidFill>
                <a:latin typeface="Calibri"/>
              </a:rPr>
              <a:t>UNIT — L'ATELIER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F7F1E6"/>
                </a:solidFill>
                <a:latin typeface="Cambria"/>
              </a:rPr>
              <a:t>Le site qui remplit</a:t>
            </a:r>
          </a:p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F7F1E6"/>
                </a:solidFill>
                <a:latin typeface="Cambria"/>
              </a:rPr>
              <a:t>votre restaurant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3434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0" i="0">
                <a:solidFill>
                  <a:srgbClr val="F7F1E6"/>
                </a:solidFill>
                <a:latin typeface="Calibri"/>
              </a:rPr>
              <a:t>Création sur mesure.  </a:t>
            </a:r>
            <a:r>
              <a:rPr sz="1750" b="1" i="0">
                <a:solidFill>
                  <a:srgbClr val="E8641B"/>
                </a:solidFill>
                <a:latin typeface="Calibri"/>
              </a:rPr>
              <a:t>Garanties incluses.  </a:t>
            </a:r>
            <a:r>
              <a:rPr sz="1750" b="0" i="0">
                <a:solidFill>
                  <a:srgbClr val="F7F1E6"/>
                </a:solidFill>
                <a:latin typeface="Calibri"/>
              </a:rPr>
              <a:t>Croissance en option.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806440"/>
            <a:ext cx="3657600" cy="18288"/>
          </a:xfrm>
          <a:prstGeom prst="rect">
            <a:avLst/>
          </a:prstGeom>
          <a:solidFill>
            <a:srgbClr val="4A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9384"/>
                </a:solidFill>
                <a:latin typeface="Calibri"/>
              </a:rPr>
              <a:t>Rendez-vous partenaire · Vos sites internet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667512"/>
            <a:ext cx="100584" cy="10058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6695" y="59435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641B"/>
                </a:solidFill>
                <a:latin typeface="Calibri"/>
              </a:rP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2B2620"/>
                </a:solidFill>
                <a:latin typeface="Cambria"/>
              </a:rPr>
              <a:t>Vos clients vous trouvent en ligne —</a:t>
            </a:r>
          </a:p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2B2620"/>
                </a:solidFill>
                <a:latin typeface="Cambria"/>
              </a:rPr>
              <a:t>avant de pousser la porte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06040"/>
            <a:ext cx="3383280" cy="34290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30175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1288" y="4114800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B2620"/>
                </a:solidFill>
                <a:latin typeface="Cambria"/>
              </a:rPr>
              <a:t>Ils vous cherchent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663440"/>
            <a:ext cx="26151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E665A"/>
                </a:solidFill>
                <a:latin typeface="Calibri"/>
              </a:rPr>
              <a:t>Google, Maps, Instagram : le premier contact se fait sur un écran, pas à votre comptoir.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606040"/>
            <a:ext cx="3383280" cy="34290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301752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28616" y="4114800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B2620"/>
                </a:solidFill>
                <a:latin typeface="Cambria"/>
              </a:rPr>
              <a:t>Ils veulent le menu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6" y="4663440"/>
            <a:ext cx="26151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E665A"/>
                </a:solidFill>
                <a:latin typeface="Calibri"/>
              </a:rPr>
              <a:t>Carte, horaires, réservation. S'ils ne trouvent pas en 10 secondes, ils vont ailleurs.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1896" y="2606040"/>
            <a:ext cx="3383280" cy="34290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944" y="301752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95944" y="4114800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B2620"/>
                </a:solidFill>
                <a:latin typeface="Cambria"/>
              </a:rPr>
              <a:t>Ils comparent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5944" y="4663440"/>
            <a:ext cx="26151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E665A"/>
                </a:solidFill>
                <a:latin typeface="Calibri"/>
              </a:rPr>
              <a:t>Un site soigné inspire confiance et vous place au-dessus du restaurant d'à côté.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594360"/>
            <a:ext cx="100584" cy="10058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6695" y="5212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641B"/>
                </a:solidFill>
                <a:latin typeface="Calibri"/>
              </a:rPr>
              <a:t>NOS FORMULES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B2620"/>
                </a:solidFill>
                <a:latin typeface="Cambria"/>
              </a:rPr>
              <a:t>Trois formules, une seule exigence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401568" cy="4434840"/>
          </a:xfrm>
          <a:prstGeom prst="roundRect">
            <a:avLst>
              <a:gd name="adj" fmla="val 45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94560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A5E22"/>
                </a:solidFill>
                <a:latin typeface="Calibri"/>
              </a:rPr>
              <a:t>L'ESSENTIEL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487168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B2620"/>
                </a:solidFill>
                <a:latin typeface="Cambria"/>
              </a:rPr>
              <a:t>One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127248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8641B"/>
                </a:solidFill>
                <a:latin typeface="Cambria"/>
              </a:rPr>
              <a:t>dès 690 €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1288" y="3675887"/>
            <a:ext cx="2633472" cy="12801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822191"/>
            <a:ext cx="2633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E665A"/>
                </a:solidFill>
                <a:latin typeface="Calibri"/>
              </a:rPr>
              <a:t>Tout votre restaurant sur une page fluide et convaincante.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4709160"/>
            <a:ext cx="2761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433E"/>
                </a:solidFill>
                <a:latin typeface="Calibri"/>
              </a:rPr>
              <a:t>Présentation &amp; ambiance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433E"/>
                </a:solidFill>
                <a:latin typeface="Calibri"/>
              </a:rPr>
              <a:t>Menu, horaires &amp; accès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433E"/>
                </a:solidFill>
                <a:latin typeface="Calibri"/>
              </a:rPr>
              <a:t>Bouton réservation / contact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433E"/>
                </a:solidFill>
                <a:latin typeface="Calibri"/>
              </a:rPr>
              <a:t>100% optimisé 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401568" cy="4434840"/>
          </a:xfrm>
          <a:prstGeom prst="roundRect">
            <a:avLst>
              <a:gd name="adj" fmla="val 4500"/>
            </a:avLst>
          </a:prstGeom>
          <a:solidFill>
            <a:srgbClr val="2B2620"/>
          </a:solidFill>
          <a:ln w="2032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80176" y="1627632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0176" y="16962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Le plus choisi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194560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641B"/>
                </a:solidFill>
                <a:latin typeface="Calibri"/>
              </a:rPr>
              <a:t>LE COMPLET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2487168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7F1E6"/>
                </a:solidFill>
                <a:latin typeface="Cambria"/>
              </a:rPr>
              <a:t>Multi-page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127248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8641B"/>
                </a:solidFill>
                <a:latin typeface="Cambria"/>
              </a:rPr>
              <a:t>dès 1 490 €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0328" y="3675887"/>
            <a:ext cx="2633472" cy="12801"/>
          </a:xfrm>
          <a:prstGeom prst="rect">
            <a:avLst/>
          </a:prstGeom>
          <a:solidFill>
            <a:srgbClr val="4A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3822191"/>
            <a:ext cx="2633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BC2B2"/>
                </a:solidFill>
                <a:latin typeface="Calibri"/>
              </a:rPr>
              <a:t>Un vrai site structuré, pensé pour être trouvé sur Google.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4709160"/>
            <a:ext cx="2761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7F1E6"/>
                </a:solidFill>
                <a:latin typeface="Calibri"/>
              </a:rPr>
              <a:t>Pages dédiées (menu, à propos…)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7F1E6"/>
                </a:solidFill>
                <a:latin typeface="Calibri"/>
              </a:rPr>
              <a:t>Référencement local Google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7F1E6"/>
                </a:solidFill>
                <a:latin typeface="Calibri"/>
              </a:rPr>
              <a:t>Galerie photos &amp; avis clients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7F1E6"/>
                </a:solidFill>
                <a:latin typeface="Calibri"/>
              </a:rPr>
              <a:t>Réservation intégrée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1828800"/>
            <a:ext cx="3401568" cy="4434840"/>
          </a:xfrm>
          <a:prstGeom prst="roundRect">
            <a:avLst>
              <a:gd name="adj" fmla="val 45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9368" y="2194560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A5E22"/>
                </a:solidFill>
                <a:latin typeface="Calibri"/>
              </a:rPr>
              <a:t>LE 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9368" y="2487168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B2620"/>
                </a:solidFill>
                <a:latin typeface="Cambria"/>
              </a:rPr>
              <a:t>Sur mesure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8" y="3127248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8641B"/>
                </a:solidFill>
                <a:latin typeface="Cambria"/>
              </a:rPr>
              <a:t>sur devis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59368" y="3675887"/>
            <a:ext cx="2633472" cy="12801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9368" y="3822191"/>
            <a:ext cx="2633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E665A"/>
                </a:solidFill>
                <a:latin typeface="Calibri"/>
              </a:rPr>
              <a:t>Design unique et fonctionnalités avancées, à la carte.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368" y="4709160"/>
            <a:ext cx="2761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433E"/>
                </a:solidFill>
                <a:latin typeface="Calibri"/>
              </a:rPr>
              <a:t>Design 100% personnalisé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433E"/>
                </a:solidFill>
                <a:latin typeface="Calibri"/>
              </a:rPr>
              <a:t>Click &amp; collect / commande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433E"/>
                </a:solidFill>
                <a:latin typeface="Calibri"/>
              </a:rPr>
              <a:t>Multilingue &amp; animations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8641B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433E"/>
                </a:solidFill>
                <a:latin typeface="Calibri"/>
              </a:rPr>
              <a:t>Intégrations sur demande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594360"/>
            <a:ext cx="100584" cy="10058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6695" y="5212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641B"/>
                </a:solidFill>
                <a:latin typeface="Calibri"/>
              </a:rPr>
              <a:t>OPTIONS À LA CARTE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B2620"/>
                </a:solidFill>
                <a:latin typeface="Cambria"/>
              </a:rPr>
              <a:t>À ajouter à votre formule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E665A"/>
                </a:solidFill>
                <a:latin typeface="Calibri"/>
              </a:rPr>
              <a:t>Chaque site peut être enrichi selon vos besoins — sans changer de formule.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715768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1288" y="3794760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B2620"/>
                </a:solidFill>
                <a:latin typeface="Cambria"/>
              </a:rPr>
              <a:t>Réservation en ligne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4270248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641B"/>
                </a:solidFill>
                <a:latin typeface="Cambria"/>
              </a:rPr>
              <a:t>+ 300 €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1288" y="4818888"/>
            <a:ext cx="2633472" cy="12801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983479"/>
            <a:ext cx="26700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E665A"/>
                </a:solidFill>
                <a:latin typeface="Calibri"/>
              </a:rPr>
              <a:t>Vos clients réservent leur table directement sur le site, 24h/24.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62856" y="233172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715768"/>
            <a:ext cx="868680" cy="868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46904" y="3794760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B2620"/>
                </a:solidFill>
                <a:latin typeface="Cambria"/>
              </a:rPr>
              <a:t>Site multilingue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4270248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641B"/>
                </a:solidFill>
                <a:latin typeface="Cambria"/>
              </a:rPr>
              <a:t>+ 300 €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6904" y="4818888"/>
            <a:ext cx="2633472" cy="12801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46904" y="4983479"/>
            <a:ext cx="26700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E665A"/>
                </a:solidFill>
                <a:latin typeface="Calibri"/>
              </a:rPr>
              <a:t>Touchez la clientèle touristique : votre site disponible en plusieurs langues.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2" y="233172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715768"/>
            <a:ext cx="868680" cy="868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32520" y="3794760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B2620"/>
                </a:solidFill>
                <a:latin typeface="Cambria"/>
              </a:rPr>
              <a:t>Paiement en ligne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270248"/>
            <a:ext cx="2633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641B"/>
                </a:solidFill>
                <a:latin typeface="Cambria"/>
              </a:rPr>
              <a:t>+ 200 €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4818888"/>
            <a:ext cx="2633472" cy="12801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4983479"/>
            <a:ext cx="26700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E665A"/>
                </a:solidFill>
                <a:latin typeface="Calibri"/>
              </a:rPr>
              <a:t>Acompte à la réservation ou paiement à la commande, en toute sécurité.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8C8478"/>
                </a:solidFill>
                <a:latin typeface="Calibri"/>
              </a:rPr>
              <a:t>Boutique e-commerce disponible sur devis (projets hors restauration).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649224"/>
            <a:ext cx="100584" cy="10058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6695" y="576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641B"/>
                </a:solidFill>
                <a:latin typeface="Calibri"/>
              </a:rPr>
              <a:t>LA DIFFÉRENCE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418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7F1E6"/>
                </a:solidFill>
                <a:latin typeface="Cambria"/>
              </a:rPr>
              <a:t>On ne livre pas un site. On s'en occupe.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276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B7AE9E"/>
                </a:solidFill>
                <a:latin typeface="Calibri"/>
              </a:rPr>
              <a:t>Là où les autres vous laissent seul après la mise en ligne, UNIT reste à vos côtés.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074920" cy="1572768"/>
          </a:xfrm>
          <a:prstGeom prst="roundRect">
            <a:avLst>
              <a:gd name="adj" fmla="val 7000"/>
            </a:avLst>
          </a:prstGeom>
          <a:solidFill>
            <a:srgbClr val="332E27"/>
          </a:solidFill>
          <a:ln w="12700">
            <a:solidFill>
              <a:srgbClr val="47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fr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715768"/>
            <a:ext cx="804672" cy="804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48840" y="2633472"/>
            <a:ext cx="3520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7F1E6"/>
                </a:solidFill>
                <a:latin typeface="Cambria"/>
              </a:rPr>
              <a:t>Mises à jour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09067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B7AE9E"/>
                </a:solidFill>
                <a:latin typeface="Calibri"/>
              </a:rPr>
              <a:t>Menus, photos, horaires, promos : votre site reste toujours à jour.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331720"/>
            <a:ext cx="5074920" cy="1572768"/>
          </a:xfrm>
          <a:prstGeom prst="roundRect">
            <a:avLst>
              <a:gd name="adj" fmla="val 7000"/>
            </a:avLst>
          </a:prstGeom>
          <a:solidFill>
            <a:srgbClr val="332E27"/>
          </a:solidFill>
          <a:ln w="12700">
            <a:solidFill>
              <a:srgbClr val="47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nc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715768"/>
            <a:ext cx="804672" cy="804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35240" y="2633472"/>
            <a:ext cx="3520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7F1E6"/>
                </a:solidFill>
                <a:latin typeface="Cambria"/>
              </a:rPr>
              <a:t>Modifications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09067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B7AE9E"/>
                </a:solidFill>
                <a:latin typeface="Calibri"/>
              </a:rPr>
              <a:t>Un changement à faire ? On l'applique vite, sans surcoût surprise.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51960"/>
            <a:ext cx="5074920" cy="1572768"/>
          </a:xfrm>
          <a:prstGeom prst="roundRect">
            <a:avLst>
              <a:gd name="adj" fmla="val 7000"/>
            </a:avLst>
          </a:prstGeom>
          <a:solidFill>
            <a:srgbClr val="332E27"/>
          </a:solidFill>
          <a:ln w="12700">
            <a:solidFill>
              <a:srgbClr val="47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4636008"/>
            <a:ext cx="804672" cy="8046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48840" y="4553712"/>
            <a:ext cx="3520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7F1E6"/>
                </a:solidFill>
                <a:latin typeface="Cambria"/>
              </a:rPr>
              <a:t>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01091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B7AE9E"/>
                </a:solidFill>
                <a:latin typeface="Calibri"/>
              </a:rPr>
              <a:t>Sécurité, sauvegardes et performances suivies en continu.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251960"/>
            <a:ext cx="5074920" cy="1572768"/>
          </a:xfrm>
          <a:prstGeom prst="roundRect">
            <a:avLst>
              <a:gd name="adj" fmla="val 7000"/>
            </a:avLst>
          </a:prstGeom>
          <a:solidFill>
            <a:srgbClr val="332E27"/>
          </a:solidFill>
          <a:ln w="12700">
            <a:solidFill>
              <a:srgbClr val="47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i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4636008"/>
            <a:ext cx="804672" cy="8046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35240" y="4553712"/>
            <a:ext cx="3520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7F1E6"/>
                </a:solidFill>
                <a:latin typeface="Cambria"/>
              </a:rPr>
              <a:t>Tickets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501091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B7AE9E"/>
                </a:solidFill>
                <a:latin typeface="Calibri"/>
              </a:rPr>
              <a:t>Un souci ? Vous ouvrez un ticket, on le prend en charge, on le résout.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667512"/>
            <a:ext cx="100584" cy="10058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6695" y="59435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641B"/>
                </a:solidFill>
                <a:latin typeface="Calibri"/>
              </a:rPr>
              <a:t>SUPPORT INCLUS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B2620"/>
                </a:solidFill>
                <a:latin typeface="Cambria"/>
              </a:rPr>
              <a:t>Un problème ? Un ticket. Point final.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3611880"/>
            <a:ext cx="8723376" cy="18288"/>
          </a:xfrm>
          <a:prstGeom prst="rect">
            <a:avLst/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2615184" cy="356616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1" y="292608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931920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8641B"/>
                </a:solidFill>
                <a:latin typeface="Calibri"/>
              </a:rPr>
              <a:t>ÉTAPE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51960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B2620"/>
                </a:solidFill>
                <a:latin typeface="Cambria"/>
              </a:rPr>
              <a:t>Signalement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00600"/>
            <a:ext cx="206654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6E665A"/>
                </a:solidFill>
                <a:latin typeface="Calibri"/>
              </a:rPr>
              <a:t>Vous ouvrez un ticket en un clic, à tout moment.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85031" y="2468880"/>
            <a:ext cx="2615184" cy="356616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3" y="292608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85031" y="3931920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8641B"/>
                </a:solidFill>
                <a:latin typeface="Calibri"/>
              </a:rPr>
              <a:t>ÉTAPE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4251960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B2620"/>
                </a:solidFill>
                <a:latin typeface="Cambria"/>
              </a:rPr>
              <a:t>Prise en charge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1" y="4800600"/>
            <a:ext cx="206654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6E665A"/>
                </a:solidFill>
                <a:latin typeface="Calibri"/>
              </a:rPr>
              <a:t>Votre demande est reçue et priorisée par l'équipe.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92823" y="2468880"/>
            <a:ext cx="2615184" cy="356616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5" y="2926080"/>
            <a:ext cx="914400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92823" y="3931920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8641B"/>
                </a:solidFill>
                <a:latin typeface="Calibri"/>
              </a:rPr>
              <a:t>ÉTAPE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3" y="4251960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B2620"/>
                </a:solidFill>
                <a:latin typeface="Cambria"/>
              </a:rPr>
              <a:t>Résolution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3" y="4800600"/>
            <a:ext cx="206654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6E665A"/>
                </a:solidFill>
                <a:latin typeface="Calibri"/>
              </a:rPr>
              <a:t>On corrige, on teste, on met en ligne.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0615" y="2468880"/>
            <a:ext cx="2615184" cy="356616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07" y="2926080"/>
            <a:ext cx="914400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00615" y="3931920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8641B"/>
                </a:solidFill>
                <a:latin typeface="Calibri"/>
              </a:rPr>
              <a:t>ÉTAPE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5" y="4251960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B2620"/>
                </a:solidFill>
                <a:latin typeface="Cambria"/>
              </a:rPr>
              <a:t>Suivi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4800600"/>
            <a:ext cx="206654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6E665A"/>
                </a:solidFill>
                <a:latin typeface="Calibri"/>
              </a:rPr>
              <a:t>Vous êtes tenu informé jusqu'à validation finale.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6695" y="5029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641B"/>
                </a:solidFill>
                <a:latin typeface="Calibri"/>
              </a:rPr>
              <a:t>ALLER PLUS LOIN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B2620"/>
                </a:solidFill>
                <a:latin typeface="Cambria"/>
              </a:rPr>
              <a:t>Votre site n'est que le début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53619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E665A"/>
                </a:solidFill>
                <a:latin typeface="Calibri"/>
              </a:rPr>
              <a:t>Quand vous êtes prêt à attirer plus de clients, on active la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3401568" cy="1572768"/>
          </a:xfrm>
          <a:prstGeom prst="roundRect">
            <a:avLst>
              <a:gd name="adj" fmla="val 7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651760"/>
            <a:ext cx="822960" cy="822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57400" y="2596896"/>
            <a:ext cx="1984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620"/>
                </a:solidFill>
                <a:latin typeface="Cambria"/>
              </a:rPr>
              <a:t>Tunnel de vente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03580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E665A"/>
                </a:solidFill>
                <a:latin typeface="Calibri"/>
              </a:rPr>
              <a:t>Un parcours pensé pour transformer le visiteur en client.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86000"/>
            <a:ext cx="3401568" cy="1572768"/>
          </a:xfrm>
          <a:prstGeom prst="roundRect">
            <a:avLst>
              <a:gd name="adj" fmla="val 7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2651760"/>
            <a:ext cx="822960" cy="822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06440" y="2596896"/>
            <a:ext cx="1984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620"/>
                </a:solidFill>
                <a:latin typeface="Cambria"/>
              </a:rPr>
              <a:t>VSL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03580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E665A"/>
                </a:solidFill>
                <a:latin typeface="Calibri"/>
              </a:rPr>
              <a:t>Une vidéo qui vend votre restaurant à votre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286000"/>
            <a:ext cx="3401568" cy="1572768"/>
          </a:xfrm>
          <a:prstGeom prst="roundRect">
            <a:avLst>
              <a:gd name="adj" fmla="val 7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2651760"/>
            <a:ext cx="822960" cy="822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55480" y="2596896"/>
            <a:ext cx="1984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620"/>
                </a:solidFill>
                <a:latin typeface="Cambria"/>
              </a:rPr>
              <a:t>Copywriting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303580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E665A"/>
                </a:solidFill>
                <a:latin typeface="Calibri"/>
              </a:rPr>
              <a:t>Les mots justes qui donnent envie de réserver.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9664"/>
            <a:ext cx="3401568" cy="1572768"/>
          </a:xfrm>
          <a:prstGeom prst="roundRect">
            <a:avLst>
              <a:gd name="adj" fmla="val 7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ga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535424"/>
            <a:ext cx="822960" cy="822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057400" y="4480560"/>
            <a:ext cx="1984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620"/>
                </a:solidFill>
                <a:latin typeface="Cambria"/>
              </a:rPr>
              <a:t>Publicité / 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919472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E665A"/>
                </a:solidFill>
                <a:latin typeface="Calibri"/>
              </a:rPr>
              <a:t>Des campagnes ciblées pour remplir vos tables.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4169664"/>
            <a:ext cx="3401568" cy="1572768"/>
          </a:xfrm>
          <a:prstGeom prst="roundRect">
            <a:avLst>
              <a:gd name="adj" fmla="val 7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eo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4535424"/>
            <a:ext cx="822960" cy="822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06440" y="4480560"/>
            <a:ext cx="1984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620"/>
                </a:solidFill>
                <a:latin typeface="Cambria"/>
              </a:rPr>
              <a:t>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919472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E665A"/>
                </a:solidFill>
                <a:latin typeface="Calibri"/>
              </a:rPr>
              <a:t>Gardez le contact et faites revenir vos clients.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4169664"/>
            <a:ext cx="3401568" cy="1572768"/>
          </a:xfrm>
          <a:prstGeom prst="roundRect">
            <a:avLst>
              <a:gd name="adj" fmla="val 7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6216" y="4535424"/>
            <a:ext cx="822960" cy="8229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55480" y="4480560"/>
            <a:ext cx="1984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620"/>
                </a:solidFill>
                <a:latin typeface="Cambria"/>
              </a:rPr>
              <a:t>Agent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4919472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6E665A"/>
                </a:solidFill>
                <a:latin typeface="Calibri"/>
              </a:rPr>
              <a:t>Un assistant qui répond et réserve 24h/24.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297680"/>
            <a:ext cx="2011680" cy="2011680"/>
          </a:xfrm>
          <a:prstGeom prst="ellipse">
            <a:avLst/>
          </a:prstGeom>
          <a:noFill/>
          <a:ln w="15240">
            <a:solidFill>
              <a:srgbClr val="3E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307592"/>
            <a:ext cx="100584" cy="10058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123443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641B"/>
                </a:solidFill>
                <a:latin typeface="Calibri"/>
              </a:rPr>
              <a:t>EN RÉSUMÉ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7F1E6"/>
                </a:solidFill>
                <a:latin typeface="Cambria"/>
              </a:rPr>
              <a:t>Un partenaire, pas un prestataire.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641B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4728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7F1E6"/>
                </a:solidFill>
                <a:latin typeface="Cambria"/>
              </a:rPr>
              <a:t>On crée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B7AE9E"/>
                </a:solidFill>
                <a:latin typeface="Calibri"/>
              </a:rPr>
              <a:t>Un site à votre image.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30632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641B"/>
                </a:solidFill>
                <a:latin typeface="Cambr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44728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7F1E6"/>
                </a:solidFill>
                <a:latin typeface="Cambria"/>
              </a:rPr>
              <a:t>On garantit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9319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B7AE9E"/>
                </a:solidFill>
                <a:latin typeface="Calibri"/>
              </a:rPr>
              <a:t>Mises à jour &amp; support inclus.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30632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641B"/>
                </a:solidFill>
                <a:latin typeface="Cambr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344728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7F1E6"/>
                </a:solidFill>
                <a:latin typeface="Cambria"/>
              </a:rPr>
              <a:t>On fait grandir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39319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B7AE9E"/>
                </a:solidFill>
                <a:latin typeface="Calibri"/>
              </a:rPr>
              <a:t>Tunnels, ads, CRM, 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892040"/>
            <a:ext cx="10607040" cy="12801"/>
          </a:xfrm>
          <a:prstGeom prst="rect">
            <a:avLst/>
          </a:prstGeom>
          <a:solidFill>
            <a:srgbClr val="4A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7F1E6"/>
                </a:solidFill>
                <a:latin typeface="Cambria"/>
              </a:rPr>
              <a:t>On construit votre site </a:t>
            </a:r>
            <a:r>
              <a:rPr sz="2600" b="1" i="0">
                <a:solidFill>
                  <a:srgbClr val="E8641B"/>
                </a:solidFill>
                <a:latin typeface="Cambria"/>
              </a:rPr>
              <a:t>cette semaine</a:t>
            </a:r>
            <a:r>
              <a:rPr sz="2600" b="0" i="0">
                <a:solidFill>
                  <a:srgbClr val="F7F1E6"/>
                </a:solidFill>
                <a:latin typeface="Cambria"/>
              </a:rPr>
              <a:t>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A9384"/>
                </a:solidFill>
                <a:latin typeface="Calibri"/>
              </a:rPr>
              <a:t>UNIT — L'Atelier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640080"/>
            <a:ext cx="1920240" cy="1920240"/>
          </a:xfrm>
          <a:prstGeom prst="ellipse">
            <a:avLst/>
          </a:prstGeom>
          <a:noFill/>
          <a:ln w="15240">
            <a:solidFill>
              <a:srgbClr val="3E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4480560"/>
            <a:ext cx="1828800" cy="1828800"/>
          </a:xfrm>
          <a:prstGeom prst="ellipse">
            <a:avLst/>
          </a:prstGeom>
          <a:noFill/>
          <a:ln w="15240">
            <a:solidFill>
              <a:srgbClr val="3E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00584" cy="10058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641B"/>
                </a:solidFill>
                <a:latin typeface="Calibri"/>
              </a:rPr>
              <a:t>SUPPORT COMMERCIAL · INTERNE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7F1E6"/>
                </a:solidFill>
                <a:latin typeface="Cambria"/>
              </a:rPr>
              <a:t>Face aux objections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429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B7AE9E"/>
                </a:solidFill>
                <a:latin typeface="Calibri"/>
              </a:rPr>
              <a:t>Ce que vous entendrez en rendez-vous — et comment y répondre, calmement.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806440"/>
            <a:ext cx="3657600" cy="18288"/>
          </a:xfrm>
          <a:prstGeom prst="rect">
            <a:avLst/>
          </a:prstGeom>
          <a:solidFill>
            <a:srgbClr val="4A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A9384"/>
                </a:solidFill>
                <a:latin typeface="Calibri"/>
              </a:rPr>
              <a:t>Slides internes — support de vente, à ne pas projeter au client.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594360"/>
            <a:ext cx="100584" cy="10058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6695" y="5212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641B"/>
                </a:solidFill>
                <a:latin typeface="Calibri"/>
              </a:rPr>
              <a:t>FACE AUX OBJECTIONS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B2620"/>
                </a:solidFill>
                <a:latin typeface="Cambria"/>
              </a:rPr>
              <a:t>Objection → Réponse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02412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8C8478"/>
                </a:solidFill>
                <a:latin typeface="Cambria"/>
              </a:rPr>
              <a:t>1 /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221991"/>
            <a:ext cx="4581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1">
                <a:solidFill>
                  <a:srgbClr val="2B2620"/>
                </a:solidFill>
                <a:latin typeface="Cambria"/>
              </a:rPr>
              <a:t>« C'est trop cher.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807208"/>
            <a:ext cx="4581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8641B"/>
                </a:solidFill>
                <a:latin typeface="Calibri"/>
              </a:rPr>
              <a:t>VOTRE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063239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65A"/>
                </a:solidFill>
                <a:latin typeface="Calibri"/>
              </a:rPr>
              <a:t>Une seule table réservée en plus par semaine rembourse le site dans l'année. Ce n'est pas une dépense : c'est un commercial qui travaille 24/7 — garanties incluses, sans surcoût caché.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2221991"/>
            <a:ext cx="4581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1">
                <a:solidFill>
                  <a:srgbClr val="2B2620"/>
                </a:solidFill>
                <a:latin typeface="Cambria"/>
              </a:rPr>
              <a:t>« J'ai déjà Facebook / Insta, ça suffit.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2807208"/>
            <a:ext cx="4581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8641B"/>
                </a:solidFill>
                <a:latin typeface="Calibri"/>
              </a:rPr>
              <a:t>VOTRE RÉPONSE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063239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65A"/>
                </a:solidFill>
                <a:latin typeface="Calibri"/>
              </a:rPr>
              <a:t>Les réseaux, c'est loué : l'algorithme décide qui vous voit. Votre site, c'est chez vous — en tête de Google quand on cherche un resto dans votre ville, menu et réservation en un clic.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42816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498848"/>
            <a:ext cx="4581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1">
                <a:solidFill>
                  <a:srgbClr val="2B2620"/>
                </a:solidFill>
                <a:latin typeface="Cambria"/>
              </a:rPr>
              <a:t>« Je n'ai pas le temps de m'en occuper.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5084064"/>
            <a:ext cx="4581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8641B"/>
                </a:solidFill>
                <a:latin typeface="Calibri"/>
              </a:rPr>
              <a:t>VOTRE RÉPONSE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5340096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65A"/>
                </a:solidFill>
                <a:latin typeface="Calibri"/>
              </a:rPr>
              <a:t>C'est justement notre métier : vous ne touchez à rien. Nouveau menu, photo, promo ? Un simple message, on s'en occupe. Zéro charge pour vous.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242816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4498848"/>
            <a:ext cx="4581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1">
                <a:solidFill>
                  <a:srgbClr val="2B2620"/>
                </a:solidFill>
                <a:latin typeface="Cambria"/>
              </a:rPr>
              <a:t>« Mes clients sont des habitués.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5084064"/>
            <a:ext cx="4581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8641B"/>
                </a:solidFill>
                <a:latin typeface="Calibri"/>
              </a:rPr>
              <a:t>VOTRE RÉPONSE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5340096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65A"/>
                </a:solidFill>
                <a:latin typeface="Calibri"/>
              </a:rPr>
              <a:t>Les habitués font tourner la boutique, les nouveaux la font grandir. Et 8 clients sur 10 regardent le menu et les avis en ligne avant de pousser la porte.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594360"/>
            <a:ext cx="100584" cy="10058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6695" y="5212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641B"/>
                </a:solidFill>
                <a:latin typeface="Calibri"/>
              </a:rPr>
              <a:t>FACE AUX OBJECTIONS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69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B2620"/>
                </a:solidFill>
                <a:latin typeface="Cambria"/>
              </a:rPr>
              <a:t>Objection → Réponse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102412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8C8478"/>
                </a:solidFill>
                <a:latin typeface="Cambria"/>
              </a:rPr>
              <a:t>2 /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221991"/>
            <a:ext cx="4581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1">
                <a:solidFill>
                  <a:srgbClr val="2B2620"/>
                </a:solidFill>
                <a:latin typeface="Cambria"/>
              </a:rPr>
              <a:t>« Je suis déjà sur Uber Eats / TheFork.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807208"/>
            <a:ext cx="4581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8641B"/>
                </a:solidFill>
                <a:latin typeface="Calibri"/>
              </a:rPr>
              <a:t>VOTRE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063239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65A"/>
                </a:solidFill>
                <a:latin typeface="Calibri"/>
              </a:rPr>
              <a:t>Ces plateformes prennent une commission sur chaque couvert et gardent vos données. Votre site, c'est du direct : sans commission, et le client vous appartient.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2221991"/>
            <a:ext cx="4581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1">
                <a:solidFill>
                  <a:srgbClr val="2B2620"/>
                </a:solidFill>
                <a:latin typeface="Cambria"/>
              </a:rPr>
              <a:t>« Un ami peut me le faire.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2807208"/>
            <a:ext cx="4581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8641B"/>
                </a:solidFill>
                <a:latin typeface="Calibri"/>
              </a:rPr>
              <a:t>VOTRE RÉPONSE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063239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65A"/>
                </a:solidFill>
                <a:latin typeface="Calibri"/>
              </a:rPr>
              <a:t>Peut-être. Mais qui le met à jour dans 6 mois ? Qui répond un vendredi soir de rush ? Chez nous : un ticket, une équipe, une réponse. Vous n'êtes jamais seul.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42816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498848"/>
            <a:ext cx="4581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1">
                <a:solidFill>
                  <a:srgbClr val="2B2620"/>
                </a:solidFill>
                <a:latin typeface="Cambria"/>
              </a:rPr>
              <a:t>« Je peux le faire moi-même sur Wix.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5084064"/>
            <a:ext cx="4581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8641B"/>
                </a:solidFill>
                <a:latin typeface="Calibri"/>
              </a:rPr>
              <a:t>VOTRE RÉPONSE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5340096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65A"/>
                </a:solidFill>
                <a:latin typeface="Calibri"/>
              </a:rPr>
              <a:t>Vous pourriez — comme faire votre compta. Mais votre temps vaut plus en cuisine et en salle. On livre un site pro, référencé et suivi, pendant que vous gérez le restaurant.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242816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FFFDFA"/>
          </a:solidFill>
          <a:ln w="12700">
            <a:solidFill>
              <a:srgbClr val="E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4498848"/>
            <a:ext cx="4581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 i="1">
                <a:solidFill>
                  <a:srgbClr val="2B2620"/>
                </a:solidFill>
                <a:latin typeface="Cambria"/>
              </a:rPr>
              <a:t>« Je vais réfléchir.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5084064"/>
            <a:ext cx="4581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8641B"/>
                </a:solidFill>
                <a:latin typeface="Calibri"/>
              </a:rPr>
              <a:t>VOTRE RÉPONSE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5340096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65A"/>
                </a:solidFill>
                <a:latin typeface="Calibri"/>
              </a:rPr>
              <a:t>Bien sûr. Juste pour cadrer : qu'est-ce qui vous retient — le budget, le timing, ou un doute sur le résultat ? Regardons ce point précis ensemble, maintenant.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